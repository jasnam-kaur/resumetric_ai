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3"/>
  </p:normalViewPr>
  <p:slideViewPr>
    <p:cSldViewPr snapToGrid="0">
      <p:cViewPr varScale="1">
        <p:scale>
          <a:sx n="115" d="100"/>
          <a:sy n="115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92AA91FB-29B9-E6AF-2F48-C6B55622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>
            <a:extLst>
              <a:ext uri="{FF2B5EF4-FFF2-40B4-BE49-F238E27FC236}">
                <a16:creationId xmlns:a16="http://schemas.microsoft.com/office/drawing/2014/main" id="{1E7D4B3B-13FF-6311-141D-A2E81EEB7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7068C69A-565B-9EAF-6F95-432D3C9FB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6409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C43F453-29E1-54A2-7589-F2CC1BAC8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>
            <a:extLst>
              <a:ext uri="{FF2B5EF4-FFF2-40B4-BE49-F238E27FC236}">
                <a16:creationId xmlns:a16="http://schemas.microsoft.com/office/drawing/2014/main" id="{9687336F-B46B-AFA3-87E2-FD080588A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DCDDE3CC-F7E8-062E-6FCA-2CCC0BF1C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819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A5C2A3AC-D056-687A-0F57-13F6AF1F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>
            <a:extLst>
              <a:ext uri="{FF2B5EF4-FFF2-40B4-BE49-F238E27FC236}">
                <a16:creationId xmlns:a16="http://schemas.microsoft.com/office/drawing/2014/main" id="{C615F444-45F2-5B5B-EDF3-F9F840DD7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9602B048-9AF5-2DE5-EDA4-BED743335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155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y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mupdf.readthedocs.io/" TargetMode="External"/><Relationship Id="rId5" Type="http://schemas.openxmlformats.org/officeDocument/2006/relationships/hyperlink" Target="https://docs.djangoproject.com/" TargetMode="External"/><Relationship Id="rId4" Type="http://schemas.openxmlformats.org/officeDocument/2006/relationships/hyperlink" Target="https://scikit-learn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523998" y="1818693"/>
            <a:ext cx="9144000" cy="84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4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Research Paper Seminar </a:t>
            </a:r>
            <a:endParaRPr sz="4800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" y="2827944"/>
            <a:ext cx="121919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Study of NLP-Based Resume Screening Systems</a:t>
            </a:r>
            <a:endParaRPr sz="4000" b="1" i="0" u="none" strike="noStrike" cap="none" dirty="0">
              <a:solidFill>
                <a:srgbClr val="385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943087" y="4887199"/>
            <a:ext cx="56922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[Paper Presenter Name: </a:t>
            </a:r>
            <a:r>
              <a:rPr lang="en-US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Jasnam Kaur</a:t>
            </a: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</a:t>
            </a: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Komal Sharma</a:t>
            </a: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1400" b="1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883603" y="5100816"/>
            <a:ext cx="56922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[Paper Presenter Enrollment No.: </a:t>
            </a:r>
            <a:r>
              <a:rPr lang="en-US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00321102023</a:t>
            </a:r>
            <a:r>
              <a:rPr lang="en-US" sz="1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 </a:t>
            </a:r>
            <a:endParaRPr dirty="0"/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Date: 17/03/2026</a:t>
            </a:r>
            <a:endParaRPr dirty="0"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8BB11EA-8743-8D39-94A8-761E6F968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60600" y="6310312"/>
            <a:ext cx="7975600" cy="457200"/>
          </a:xfrm>
        </p:spPr>
        <p:txBody>
          <a:bodyPr/>
          <a:lstStyle/>
          <a:p>
            <a:r>
              <a:rPr lang="en-US" dirty="0"/>
              <a:t>© Institute of Information Technology and Management, D-29, Institutional Area, Janakpuri, New Delhi-110058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1A82C-A2A8-E15D-65E9-5C00AA1F983D}"/>
              </a:ext>
            </a:extLst>
          </p:cNvPr>
          <p:cNvSpPr txBox="1"/>
          <p:nvPr/>
        </p:nvSpPr>
        <p:spPr>
          <a:xfrm>
            <a:off x="2850359" y="136525"/>
            <a:ext cx="64912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INSTITUTE OF INFORMATION TECHNOLOGY &amp; MANAGEMENT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Accredited ‘A’ Grade by NAAC &amp; </a:t>
            </a:r>
            <a:r>
              <a:rPr lang="en-US" sz="1400" b="1" i="0" u="none" strike="noStrike" dirty="0" err="1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Recognised</a:t>
            </a:r>
            <a:r>
              <a:rPr lang="en-US" sz="1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 U/s 2(f) of UGC act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Rated Category `A+’ by SFRC &amp; `A’ by JAC Govt. of NCT of Delhi</a:t>
            </a: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1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Approved by AICTE &amp; Affiliated to GGS Indraprastha University, New Delhi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D37034-ADB5-BB9B-1AD3-CADF3F0DC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84" y="66152"/>
            <a:ext cx="1666764" cy="13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400257" y="872322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3400" b="1" dirty="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838200" y="177145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Evolution of Recruitment Technology: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Tracking the shift from manual screening to keyword-based systems, and finally to semantic NLP models</a:t>
            </a:r>
          </a:p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The "Black Box" Problem and Problem Statement: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Analyzing current challenges in candidate transparency and technical parsing limitations.</a:t>
            </a:r>
          </a:p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190500">
              <a:spcBef>
                <a:spcPts val="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Comparative Methodology and Core NLP Engine: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Overview of the research approach comparing TF-IDF and Cosine Similarity against traditional methods</a:t>
            </a:r>
          </a:p>
          <a:p>
            <a:pPr marL="228600" indent="-190500">
              <a:spcBef>
                <a:spcPts val="0"/>
              </a:spcBef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190500">
              <a:spcBef>
                <a:spcPts val="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System Architecture (</a:t>
            </a:r>
            <a:r>
              <a:rPr lang="en-US" sz="1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ResuMetric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 AI):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Structural breakdown of the dual-portal solution and database integrity protocols</a:t>
            </a:r>
          </a:p>
          <a:p>
            <a:pPr marL="228600" indent="-190500">
              <a:spcBef>
                <a:spcPts val="0"/>
              </a:spcBef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190500">
              <a:spcBef>
                <a:spcPts val="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 and Future Research Directions: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Final synthesis of findings and potential for Generative AI integration in career coaching</a:t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311524" y="899456"/>
            <a:ext cx="11568952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3400" b="1" dirty="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D125174-D2F3-DFB5-CD63-14E54F24C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6311" y="1681813"/>
            <a:ext cx="10515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Contextual Evolution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Evaluates the transition of Applicant Tracking Systems (ATS) from basic, rigid keyword-matching to advanced semantic analysis using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Methodological Framework: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legacy parsing methods against the proposed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ResuMetric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 system, which utilizes 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lemmatization and 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TF-IDF similarity scoring.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Addresses the "Black Box" recruitment effect by providing automated ranking for recruiters and transparent, actionable "Gap Analysis" for candidates.</a:t>
            </a:r>
          </a:p>
          <a:p>
            <a:pPr marL="285750" indent="-285750">
              <a:lnSpc>
                <a:spcPct val="100000"/>
              </a:lnSpc>
              <a:buClrTx/>
              <a:buSzTx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Integrity: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implementation of custom cleaning logic for formatting edge cases and database 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UniqueConstraints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prevent redundant data processing and system crashes.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298077" y="881200"/>
            <a:ext cx="11595846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400" b="1" dirty="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1"/>
          </p:nvPr>
        </p:nvSpPr>
        <p:spPr>
          <a:xfrm>
            <a:off x="620889" y="1889828"/>
            <a:ext cx="1095022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Manual Screening Fatigue: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Recruiters face significant cognitive load and potential bias when scanning hundreds of resumes manually, leading to inconsistent hiring decisions.</a:t>
            </a:r>
          </a:p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lang="en-US"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Semantic Recognition Gaps: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Legacy ATS solutions often fail to recognize synonyms or related terminology, such as rejecting a candidate for lacking "Django" even if "Python Web Framework" is listed.</a:t>
            </a:r>
          </a:p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190500">
              <a:spcBef>
                <a:spcPts val="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Parsing Fragility: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Symbols and formatting edge cases, such as the use of parentheses in "Python(Basics)," frequently break traditional parsers and result in data loss.</a:t>
            </a:r>
          </a:p>
          <a:p>
            <a:pPr marL="228600" indent="-190500">
              <a:spcBef>
                <a:spcPts val="0"/>
              </a:spcBef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indent="-190500">
              <a:spcBef>
                <a:spcPts val="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Database Integrity Risks: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The absence of strict unique constraints can lead to </a:t>
            </a:r>
            <a:r>
              <a:rPr lang="en-US" sz="1800" i="1" dirty="0" err="1">
                <a:latin typeface="Times New Roman"/>
                <a:ea typeface="Times New Roman"/>
                <a:cs typeface="Times New Roman"/>
                <a:sym typeface="Times New Roman"/>
              </a:rPr>
              <a:t>IntegrityError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 system crashes when a candidate attempts multiple submissions to the same room, as observed in recent /room/test-room/ failures.</a:t>
            </a:r>
            <a:b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462928" y="724415"/>
            <a:ext cx="11604811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Review</a:t>
            </a:r>
            <a:endParaRPr sz="3400" b="1" dirty="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706056" y="1672852"/>
            <a:ext cx="1064774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Evaluate NLP Efficacy: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analyze the performance of 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spaCy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-based lemmatization in identifying root words to improve match accuracy over standard string matching.</a:t>
            </a:r>
          </a:p>
          <a:p>
            <a:pPr marL="381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Address Parsing Vulnerabilities: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implement and test custom text-cleaning logic that handles formatting edge cases like the "Parentheses Bug".</a:t>
            </a:r>
          </a:p>
          <a:p>
            <a:pPr marL="381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Optimize System Stability: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To establish a robust backend architecture using Django and database constraints that prevent duplicate application clutter and server errors.</a:t>
            </a:r>
          </a:p>
          <a:p>
            <a:pPr marL="381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Promote Transparency: 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To create a dual-interface system that provides actionable "Gap Analysis" feedback to candidates while maintaining high-speed ranking for recruiters.</a:t>
            </a:r>
          </a:p>
          <a:p>
            <a:pPr marL="381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560295" y="661661"/>
            <a:ext cx="11631705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Methodology</a:t>
            </a:r>
            <a:endParaRPr sz="3400" b="1" dirty="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903111" y="1845001"/>
            <a:ext cx="104506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Primary Tool Selection: Utilizing </a:t>
            </a:r>
            <a:r>
              <a:rPr lang="en-US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spaCy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 for industrial-strength Natural Language Processing, specifically for its advanced lemmatization capabilities.</a:t>
            </a:r>
          </a:p>
          <a:p>
            <a:pPr marL="381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Vectorization Strategy: Implementing scikit-learn to calculate TF-IDF (Term Frequency-Inverse Document Frequency) to evaluate the contextual importance of keywords within resumes.</a:t>
            </a:r>
          </a:p>
          <a:p>
            <a:pPr marL="381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Similarity Measurement: Applying Cosine Similarity to mathematically measure the distance between the vectorized Job Description and the candidate's resume.</a:t>
            </a:r>
          </a:p>
          <a:p>
            <a:pPr marL="381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Text Extraction Protocols: Using </a:t>
            </a:r>
            <a:r>
              <a:rPr lang="en-IN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PyMuPDF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IN" sz="1800" dirty="0" err="1">
                <a:latin typeface="Times New Roman"/>
                <a:ea typeface="Times New Roman"/>
                <a:cs typeface="Times New Roman"/>
                <a:sym typeface="Times New Roman"/>
              </a:rPr>
              <a:t>fitz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) to extract raw text from unstructured PDF documents, followed by custom cleaning logic to remove formatting noise.</a:t>
            </a:r>
          </a:p>
          <a:p>
            <a:pPr marL="381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IN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Data Integrity Testing: Monitoring system behavior during high-volume submissions to identify and fix </a:t>
            </a:r>
            <a:r>
              <a:rPr lang="en-IN" sz="1800" i="1" dirty="0" err="1">
                <a:latin typeface="Times New Roman"/>
                <a:ea typeface="Times New Roman"/>
                <a:cs typeface="Times New Roman"/>
                <a:sym typeface="Times New Roman"/>
              </a:rPr>
              <a:t>IntegrityError</a:t>
            </a: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 vulnerabilities using Django's database constraints.</a:t>
            </a: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101CE55-FD85-5087-6A9B-AF62B18C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>
            <a:extLst>
              <a:ext uri="{FF2B5EF4-FFF2-40B4-BE49-F238E27FC236}">
                <a16:creationId xmlns:a16="http://schemas.microsoft.com/office/drawing/2014/main" id="{E3778F2A-F891-29B9-EA90-D71919E2B9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147" y="681037"/>
            <a:ext cx="11631705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Summary (Synthesis Matrix)</a:t>
            </a:r>
            <a:endParaRPr sz="3400" b="1" dirty="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37B86B20-EFF0-E0CA-B84A-B1B1939A0D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DDDF87-E5B2-450F-500A-A8E9618F7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940170"/>
              </p:ext>
            </p:extLst>
          </p:nvPr>
        </p:nvGraphicFramePr>
        <p:xfrm>
          <a:off x="838200" y="1843271"/>
          <a:ext cx="10515600" cy="4333692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562909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571001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21163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2791656"/>
                    </a:ext>
                  </a:extLst>
                </a:gridCol>
              </a:tblGrid>
              <a:tr h="722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Keywords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NLP (Proposed)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36112"/>
                  </a:ext>
                </a:extLst>
              </a:tr>
              <a:tr h="722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Matching Logic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 String Match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Root-word (Lemma) Match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Recognizes synonyms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209636"/>
                  </a:ext>
                </a:extLst>
              </a:tr>
              <a:tr h="722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Formatting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Tolerance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Fixes "Parentheses Bug"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561503"/>
                  </a:ext>
                </a:extLst>
              </a:tr>
              <a:tr h="722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Candidate Feedback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 (Black Box)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Gap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Transparent "v2.0"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39214"/>
                  </a:ext>
                </a:extLst>
              </a:tr>
              <a:tr h="722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Chronological/Basic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Score-Weighted (60/40)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Ranks by technical 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05296"/>
                  </a:ext>
                </a:extLst>
              </a:tr>
              <a:tr h="722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Prone to Duplicates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server crashes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725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15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3FA1389-66C3-FCB1-3B09-31E35689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>
            <a:extLst>
              <a:ext uri="{FF2B5EF4-FFF2-40B4-BE49-F238E27FC236}">
                <a16:creationId xmlns:a16="http://schemas.microsoft.com/office/drawing/2014/main" id="{92959309-7B80-0F96-F82C-48F662E9E5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191" y="501649"/>
            <a:ext cx="11631705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1F3864"/>
              </a:buClr>
              <a:buSzPts val="4000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Gaps Identified</a:t>
            </a:r>
            <a:endParaRPr sz="3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5DB3D4FA-0A2C-4CC6-B89D-CC8286980F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92FB46-4BBA-6182-B722-07272CEFCF90}"/>
              </a:ext>
            </a:extLst>
          </p:cNvPr>
          <p:cNvSpPr txBox="1"/>
          <p:nvPr/>
        </p:nvSpPr>
        <p:spPr>
          <a:xfrm>
            <a:off x="719830" y="1859339"/>
            <a:ext cx="106313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Actionable Insights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Most current systems do not provide candidates with a "Missing Skills" list based on Set Theory (Set Difference).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Fragility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significant gap exists in handling common symbols and nested parentheses that break standard parsers.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Scalability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Many NLP models fail during cloud deployment;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ResuMetric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addresses this with custom 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build.sh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 for model persistence.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Safeguards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Modern web-based ATS often overlook "pre-flight" database checks, leading to preventable 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IntegrityError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failures during duplicate applications.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9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FAE6901-1F5B-F64A-C83A-18D59777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>
            <a:extLst>
              <a:ext uri="{FF2B5EF4-FFF2-40B4-BE49-F238E27FC236}">
                <a16:creationId xmlns:a16="http://schemas.microsoft.com/office/drawing/2014/main" id="{54427158-3D98-5A5B-1E7C-42CA19849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902" y="637164"/>
            <a:ext cx="11631705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1F3864"/>
              </a:buClr>
              <a:buSzPts val="4000"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Directions</a:t>
            </a:r>
            <a:endParaRPr sz="3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7" name="Google Shape;147;p18">
            <a:extLst>
              <a:ext uri="{FF2B5EF4-FFF2-40B4-BE49-F238E27FC236}">
                <a16:creationId xmlns:a16="http://schemas.microsoft.com/office/drawing/2014/main" id="{96BDC260-E853-9FCF-61CE-DE725413ED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22917D-99C2-CEE6-8116-AC5603A7B97A}"/>
              </a:ext>
            </a:extLst>
          </p:cNvPr>
          <p:cNvSpPr txBox="1"/>
          <p:nvPr/>
        </p:nvSpPr>
        <p:spPr>
          <a:xfrm>
            <a:off x="719830" y="1859339"/>
            <a:ext cx="106313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Transformative Impact: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ResuMetric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successfully shifts the recruitment process from a "guessing game" into a measurable, data-driven science by providing high-speed ranking engines for recruiters.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Empowerment: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Set Theory to identify "Missing Skills," the platform provides the actionable feedback necessary for candidates to bridge their own career gaps.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Resilience: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 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UniqueConstraints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"pre-flight" checks effectively eliminates 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IntegrityError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crashes, ensuring a stable and professional user experience.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Roadmap: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iterations will integrate Large Language Models (LLMs) to provide automated "Resume Rewriting" suggestions and live AI-powered interview coaching.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Expansion: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Upcoming features include LinkedIn API integration for seamless profile synchronization and a voice-based interview screening module.</a:t>
            </a:r>
          </a:p>
        </p:txBody>
      </p:sp>
    </p:spTree>
    <p:extLst>
      <p:ext uri="{BB962C8B-B14F-4D97-AF65-F5344CB8AC3E}">
        <p14:creationId xmlns:p14="http://schemas.microsoft.com/office/powerpoint/2010/main" val="262137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219635" y="899460"/>
            <a:ext cx="11568952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000"/>
              <a:buFont typeface="Times New Roman"/>
              <a:buNone/>
            </a:pPr>
            <a:r>
              <a:rPr lang="en-US" sz="3400" b="1" dirty="0">
                <a:solidFill>
                  <a:srgbClr val="1F3864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sz="3400" dirty="0">
              <a:solidFill>
                <a:srgbClr val="1F3864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282389" y="1862933"/>
            <a:ext cx="1156895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"Industrial-strength Natural Language Processing in Python," 2026. [Online]. 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Available: 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https://spacy.io</a:t>
            </a:r>
            <a:endParaRPr lang="en-US" altLang="en-US" sz="1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scikit-learn, "Machine Learning in Python: TF-IDF and Cosine Similarity," 2026. [Online]. 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Available: 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https://scikit-learn.org</a:t>
            </a:r>
            <a:endParaRPr lang="en-US" altLang="en-US" sz="1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Django Software Foundation, "Model Meta Options: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UniqueConstraint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 2026. [Online]. 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Available: 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https://docs.djangoproject.com</a:t>
            </a:r>
            <a:endParaRPr lang="en-US" altLang="en-US" sz="18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"Text Extraction with </a:t>
            </a:r>
            <a:r>
              <a:rPr lang="en-US" alt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fitz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 2026. [Online].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Available: </a:t>
            </a:r>
            <a:r>
              <a:rPr lang="en-US" altLang="en-US" sz="1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https://pymupdf.readthedocs.io</a:t>
            </a:r>
            <a:endParaRPr lang="en-US" altLang="en-US" sz="1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p19"/>
          <p:cNvSpPr txBox="1">
            <a:spLocks noGrp="1"/>
          </p:cNvSpPr>
          <p:nvPr>
            <p:ph type="dt" idx="10"/>
          </p:nvPr>
        </p:nvSpPr>
        <p:spPr>
          <a:xfrm>
            <a:off x="544950" y="639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17/03/2026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2362199" y="2438400"/>
            <a:ext cx="7467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strike="noStrike" cap="none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You..!!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sng" strike="noStrike" cap="none" dirty="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Query Time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1091</Words>
  <Application>Microsoft Macintosh PowerPoint</Application>
  <PresentationFormat>Widescreen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Research Paper Seminar </vt:lpstr>
      <vt:lpstr>Outline</vt:lpstr>
      <vt:lpstr>Abstract</vt:lpstr>
      <vt:lpstr>Problem Statement</vt:lpstr>
      <vt:lpstr>Objectives of the Review</vt:lpstr>
      <vt:lpstr>Literature Review Methodology</vt:lpstr>
      <vt:lpstr>Literature Review Summary (Synthesis Matrix)</vt:lpstr>
      <vt:lpstr>Key Research Gaps Identified</vt:lpstr>
      <vt:lpstr>Conclusion and Future Directions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Saima Khan</dc:creator>
  <cp:lastModifiedBy>Puja Vasudeva</cp:lastModifiedBy>
  <cp:revision>7</cp:revision>
  <dcterms:modified xsi:type="dcterms:W3CDTF">2026-03-17T17:05:28Z</dcterms:modified>
</cp:coreProperties>
</file>